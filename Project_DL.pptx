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345ADF-3B9B-A62C-A9AE-7CBC3AC84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EA151D5-1EA2-4911-3A6F-14D93D3B2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23D9CBE-4F4E-B384-8087-08A55BD0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610EBF2-A522-DD29-1EF2-3EC7C51D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9BFCD61-AD95-200F-A709-57184473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63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845558-2286-1A40-F866-686489C7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9B96A8-DD35-81C2-64BC-B88C90552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E77716-EA83-601F-49BE-2FB970821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CBD0CE-C1D9-EFFF-6C91-76521BE5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B35A05-CB75-9FB0-CAF6-191F17C2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30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409C6D-6F8C-37F7-CA77-279A81B4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3FF14C5-C4DB-39B6-0F2A-DF2053000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91782E-73EF-F924-362E-1A54BE9F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C582E90-38AB-3F3F-6198-8CC67BA5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4EE07E9-C699-DFF1-4A3F-3AF77F0B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81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BA7D07-DDB1-4018-6728-A505A13A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444805-9C2F-DEFC-877E-CC3FEF2DA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DA4943C-1DD5-5110-B4DE-0E390B795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1D8008E-EA13-8992-1BD6-829F17BD1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1474A86-E8AE-2629-3AFD-D6E267E9D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A4A48F-0F39-A877-9B53-6A610B30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83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CA0092-263F-16C2-7E40-2A3C8E7A9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56B0B1C-30BE-3BCB-7B92-3779BDED3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12B0451-F7DC-377F-8DBC-66B2EA219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1DC4343-7848-52DB-C186-C6CF219C5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207A945-DAAD-9B72-584A-00BD95453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8CDE91F-F3A2-69CE-4915-AFF56DFA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9395D61-7E2F-6B27-79E2-EC4630B4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292136E-331E-6CBD-1E43-7C5484D5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61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48389B-FEF7-484E-1E43-EF00F354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C01AB17-5F82-2A41-B69B-66C5299E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8AD0448-7518-FEEC-F15F-BA4246580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00CD81B-4D7B-CFA4-B100-B04FED93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84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9AFA4D0-4682-AF45-0F1C-E157DBA6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98EF9EF-8506-CC50-DFA4-E19FE1EA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34920CA-461F-5852-886C-B261B8C9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07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56DD58-ADDC-AE6F-1C56-381400DE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7A49B2-8E4B-2DCF-B088-DFFC2E20D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3909BE8-4C0D-BF8A-93D1-EF8E834B6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A3CEE1F-2C56-B761-61A2-92DEF987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B4B273E-0CE8-BD4A-FF60-C21534EC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5CFDAE1-BFE2-E84D-1839-146D13BE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636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A1C021-B811-45B8-1161-7D1ACE163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7987EA1-8155-9BE5-5973-9E7AED713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DC6C13A-07EE-483F-AC21-9D922CB60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33ABA10-B40B-2156-DA89-163D0002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7BD3CE7-70B7-BA62-6B8B-B472FEEB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6169FD2-29AF-6D11-DE8A-86BB41ECF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89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078611-96C2-C2E2-5763-F225CBDC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9A1BFAB-75D3-B796-CB5A-A8F1E6736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332BB0C-EA54-8BE4-4EC2-B8CC85841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6D7131D-8249-C436-5AE1-379FF22B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80707A-77D8-592E-ED1D-185EF013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62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D16A077-4406-C54D-51F5-DC336AAB51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91394CA-A225-C307-16D8-8853FCB21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8A023E-1ACF-FECA-6264-95DB5CB4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3321040-457F-B626-4A3F-1199A204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BE5923-E83A-AF21-4C45-D4F5DE18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4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EFB7FA2-05AA-F59E-9714-64C0AFED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D448B75-ADB1-A14C-0B83-F0E8EB93D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22C906A-FE88-624A-2B97-CE51AFDAF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60195-0231-4D5D-99BA-A802BA4CC0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EE1F470-825E-6E2F-80DA-F3D57B473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72B370-EFA2-8622-EE8E-C1C309421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7CB9D-56A1-46B6-978B-6B1BD708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28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41E902-1DEC-8BEC-DC0B-B4825AB58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Max Von Mises Stress
Prediction for Cantilever Beam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FEA3923-0CEF-2778-C8C2-FE0E9A602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811" y="3684911"/>
            <a:ext cx="8426824" cy="369332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Regression  vs  Percentile-Bin Classification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DC5737F-A548-0498-AEC7-7F32EC75D11D}"/>
              </a:ext>
            </a:extLst>
          </p:cNvPr>
          <p:cNvSpPr txBox="1"/>
          <p:nvPr/>
        </p:nvSpPr>
        <p:spPr>
          <a:xfrm>
            <a:off x="3048000" y="32483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dirty="0">
                <a:solidFill>
                  <a:srgbClr val="9BBFD9"/>
                </a:solidFill>
              </a:rPr>
              <a:t>ME504 – Deep Learning Project  •  Q7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9E14A39-9F17-F8C0-5B55-DA71980817D0}"/>
              </a:ext>
            </a:extLst>
          </p:cNvPr>
          <p:cNvSpPr txBox="1"/>
          <p:nvPr/>
        </p:nvSpPr>
        <p:spPr>
          <a:xfrm>
            <a:off x="4890246" y="4121478"/>
            <a:ext cx="2043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3</a:t>
            </a:r>
          </a:p>
        </p:txBody>
      </p:sp>
    </p:spTree>
    <p:extLst>
      <p:ext uri="{BB962C8B-B14F-4D97-AF65-F5344CB8AC3E}">
        <p14:creationId xmlns:p14="http://schemas.microsoft.com/office/powerpoint/2010/main" val="4280960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C10E3D-3755-0CBA-AAF6-5EAF715D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02" y="60613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Dataset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structural failure risk from FE simulation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E3A054-640C-4D68-7A01-A2EE12D68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52" y="1777309"/>
            <a:ext cx="3478306" cy="2221940"/>
          </a:xfrm>
        </p:spPr>
        <p:txBody>
          <a:bodyPr/>
          <a:lstStyle/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</a:defRPr>
            </a:pPr>
            <a:r>
              <a:rPr lang="en-IN" dirty="0"/>
              <a:t>5 000 cantilever-beam FE simulations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</a:defRPr>
            </a:pPr>
            <a:r>
              <a:rPr lang="en-IN" dirty="0"/>
              <a:t>Input:  226 nodal thickness values (m)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</a:defRPr>
            </a:pPr>
            <a:r>
              <a:rPr lang="en-IN" dirty="0"/>
              <a:t>Target: max Von Mises stress (Pa)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</a:defRPr>
            </a:pPr>
            <a:r>
              <a:rPr lang="en-IN" dirty="0"/>
              <a:t>Split:  70 % train / 15 % </a:t>
            </a:r>
            <a:r>
              <a:rPr lang="en-IN" dirty="0" err="1"/>
              <a:t>val</a:t>
            </a:r>
            <a:r>
              <a:rPr lang="en-IN" dirty="0"/>
              <a:t> / 15 % test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</a:defRPr>
            </a:pPr>
            <a:r>
              <a:rPr lang="en-IN" dirty="0"/>
              <a:t>Feature scaling: </a:t>
            </a:r>
            <a:r>
              <a:rPr lang="en-IN" dirty="0" err="1"/>
              <a:t>StandardScaler</a:t>
            </a:r>
            <a:r>
              <a:rPr lang="en-IN" dirty="0"/>
              <a:t> (train only)</a:t>
            </a:r>
          </a:p>
          <a:p>
            <a:pPr>
              <a:spcBef>
                <a:spcPts val="400"/>
              </a:spcBef>
              <a:defRPr sz="1500">
                <a:solidFill>
                  <a:srgbClr val="000000"/>
                </a:solidFill>
              </a:defRPr>
            </a:pPr>
            <a:r>
              <a:rPr lang="en-IN" dirty="0"/>
              <a:t>Regression target: log + z-normalised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48DF5CA-F8DE-759F-A3DE-3336B5153A91}"/>
              </a:ext>
            </a:extLst>
          </p:cNvPr>
          <p:cNvSpPr txBox="1"/>
          <p:nvPr/>
        </p:nvSpPr>
        <p:spPr>
          <a:xfrm>
            <a:off x="455802" y="1376536"/>
            <a:ext cx="1415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i="0" dirty="0">
                <a:solidFill>
                  <a:srgbClr val="2E75B6"/>
                </a:solidFill>
              </a:rPr>
              <a:t>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51D6718-C215-2D10-47B2-A986AF145940}"/>
              </a:ext>
            </a:extLst>
          </p:cNvPr>
          <p:cNvSpPr txBox="1"/>
          <p:nvPr/>
        </p:nvSpPr>
        <p:spPr>
          <a:xfrm>
            <a:off x="3983552" y="1742694"/>
            <a:ext cx="377414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dirty="0"/>
              <a:t>Approach 1 – CNN Regression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dirty="0"/>
              <a:t>  • Predict exact max stress (Pa)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dirty="0"/>
              <a:t>  • MSE loss on log-scaled, z-normalised target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57FF953-1954-EB85-C496-CA7FD652E5B5}"/>
              </a:ext>
            </a:extLst>
          </p:cNvPr>
          <p:cNvSpPr txBox="1"/>
          <p:nvPr/>
        </p:nvSpPr>
        <p:spPr>
          <a:xfrm>
            <a:off x="7477123" y="1742694"/>
            <a:ext cx="44280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US" dirty="0"/>
              <a:t>Approach 2 – CNN Classification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US" dirty="0"/>
              <a:t>  • 4 percentile bins: 0-10% / 11-25% / 26-50% / 51-100%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US" dirty="0"/>
              <a:t>  • Weighted cross-entropy (class-imbalance aware)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US" dirty="0"/>
              <a:t>  • Thresholds fixed from training set only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413C84DF-3550-089D-8AEC-825D33150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70" y="3689967"/>
            <a:ext cx="11618259" cy="285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7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F9BB6B-BA6E-ACFF-FD0C-ED08D5019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27" y="740045"/>
            <a:ext cx="10515600" cy="4571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Class Distribution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xmlns="" id="{6A2E0496-CACB-3D78-073F-7C93742B6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315" y="1181990"/>
            <a:ext cx="7125685" cy="4390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17B872-3BDC-503E-A40B-E7B6D55E40EE}"/>
              </a:ext>
            </a:extLst>
          </p:cNvPr>
          <p:cNvSpPr txBox="1"/>
          <p:nvPr/>
        </p:nvSpPr>
        <p:spPr>
          <a:xfrm>
            <a:off x="698127" y="785764"/>
            <a:ext cx="8717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dirty="0"/>
              <a:t>Percentile bins defined on training-set thresholds; weighted loss corrects imbalance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EF1356D-602B-CA08-B710-E159968BF08C}"/>
              </a:ext>
            </a:extLst>
          </p:cNvPr>
          <p:cNvSpPr txBox="1"/>
          <p:nvPr/>
        </p:nvSpPr>
        <p:spPr>
          <a:xfrm>
            <a:off x="211791" y="1938225"/>
            <a:ext cx="51132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0  (0–10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percentile)   → very low stress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•Class 1  (11–25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percentile)  → low stress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•Class 2  (26–50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percentile)  → medium stress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•Class 3  (&gt;50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percentile)    → high stress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loss function is weighted cross-entropy</a:t>
            </a:r>
          </a:p>
        </p:txBody>
      </p:sp>
    </p:spTree>
    <p:extLst>
      <p:ext uri="{BB962C8B-B14F-4D97-AF65-F5344CB8AC3E}">
        <p14:creationId xmlns:p14="http://schemas.microsoft.com/office/powerpoint/2010/main" val="406569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48081D-F8DD-17E5-EEFB-91DD5008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265" y="365685"/>
            <a:ext cx="10515600" cy="735764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CNN Architecture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2160" y="1718048"/>
            <a:ext cx="438912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5312" y="1754624"/>
            <a:ext cx="4242816" cy="29238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/>
              <a:t>Conv1D Block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880" y="2065521"/>
            <a:ext cx="42976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/>
              <a:t>64 filters k=5  BN  ReLU  MaxPool/2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0960" y="2678168"/>
            <a:ext cx="320040" cy="7315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2160" y="2586728"/>
            <a:ext cx="438912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5312" y="2623304"/>
            <a:ext cx="4242816" cy="29238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/>
              <a:t>Conv1D Block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880" y="2934201"/>
            <a:ext cx="42976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/>
              <a:t>128 filters k=3  BN  ReLU  MaxPool/2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0960" y="3546848"/>
            <a:ext cx="320040" cy="7315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2160" y="3455408"/>
            <a:ext cx="438912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5312" y="3491984"/>
            <a:ext cx="4242816" cy="29238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/>
              <a:t>Conv1D Block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880" y="3802881"/>
            <a:ext cx="42976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/>
              <a:t>256 filters k=3  BN  ReLU  AdaptAvgPool→1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0960" y="4415528"/>
            <a:ext cx="320040" cy="7315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2160" y="4324088"/>
            <a:ext cx="438912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5312" y="4360664"/>
            <a:ext cx="4242816" cy="29238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/>
              <a:t>FC Layers (Backbone)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880" y="4671561"/>
            <a:ext cx="42976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/>
              <a:t>256→256  ReLU  Drop(0.3)  →128  ReLU  Drop(0.3)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2160" y="5284208"/>
            <a:ext cx="201168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5312" y="5320784"/>
            <a:ext cx="1865376" cy="29238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/>
              <a:t>Regression 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880" y="5631681"/>
            <a:ext cx="192024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/>
              <a:t>Linear(128 → 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73880" y="5284208"/>
            <a:ext cx="210312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47032" y="5320784"/>
            <a:ext cx="1956816" cy="29238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/>
              <a:t>Classification 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9600" y="5631681"/>
            <a:ext cx="20116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/>
              <a:t>Linear(128 → 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160" y="5083040"/>
            <a:ext cx="4389120" cy="26161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/>
              <a:t>↑  Shared backbone output (128-D)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CB4DD91-FEDF-A561-9B26-6C3641BDCC9C}"/>
              </a:ext>
            </a:extLst>
          </p:cNvPr>
          <p:cNvSpPr txBox="1"/>
          <p:nvPr/>
        </p:nvSpPr>
        <p:spPr>
          <a:xfrm>
            <a:off x="852137" y="1164050"/>
            <a:ext cx="10209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1-D convolutions over 226-node thickness profile → shared backbone, two task heads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8098770A-B60B-6B51-337F-CD9F14F3068A}"/>
              </a:ext>
            </a:extLst>
          </p:cNvPr>
          <p:cNvSpPr txBox="1"/>
          <p:nvPr/>
        </p:nvSpPr>
        <p:spPr>
          <a:xfrm>
            <a:off x="5940239" y="1938829"/>
            <a:ext cx="438912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sz="1800" dirty="0"/>
              <a:t>Regression CNN:   ~250 k parameters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sz="1800" dirty="0"/>
              <a:t>Classification CNN: ~251 k parameters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sz="1800" dirty="0"/>
              <a:t>Optimiser:  Adam </a:t>
            </a:r>
            <a:r>
              <a:rPr lang="en-IN" sz="1800" dirty="0" err="1"/>
              <a:t>lr</a:t>
            </a:r>
            <a:r>
              <a:rPr lang="en-IN" sz="1800" dirty="0"/>
              <a:t>=1e-3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sz="1800" dirty="0"/>
              <a:t>Scheduler:  </a:t>
            </a:r>
            <a:r>
              <a:rPr lang="en-IN" sz="1800" dirty="0" err="1"/>
              <a:t>ReduceLROnPlateau</a:t>
            </a:r>
            <a:r>
              <a:rPr lang="en-IN" sz="1800" dirty="0"/>
              <a:t> 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sz="1800" dirty="0"/>
              <a:t>(factor=0.5,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sz="1800" dirty="0"/>
              <a:t> patience=7, </a:t>
            </a:r>
            <a:r>
              <a:rPr lang="en-IN" sz="1800" dirty="0" err="1"/>
              <a:t>min_lr</a:t>
            </a:r>
            <a:r>
              <a:rPr lang="en-IN" sz="1800" dirty="0"/>
              <a:t>=1e-6)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sz="1800" dirty="0"/>
              <a:t>Batch size: 64</a:t>
            </a:r>
          </a:p>
          <a:p>
            <a:pPr>
              <a:spcBef>
                <a:spcPts val="400"/>
              </a:spcBef>
              <a:defRPr sz="1400">
                <a:solidFill>
                  <a:srgbClr val="000000"/>
                </a:solidFill>
              </a:defRPr>
            </a:pPr>
            <a:r>
              <a:rPr lang="en-IN" sz="1800" dirty="0"/>
              <a:t>Max epochs: 100  |  Early stop: patience=15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471C03A1-9B01-760D-71BA-30E4AA255D60}"/>
              </a:ext>
            </a:extLst>
          </p:cNvPr>
          <p:cNvSpPr txBox="1"/>
          <p:nvPr/>
        </p:nvSpPr>
        <p:spPr>
          <a:xfrm>
            <a:off x="5940239" y="1582944"/>
            <a:ext cx="2396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dirty="0">
                <a:solidFill>
                  <a:srgbClr val="2E75B6"/>
                </a:solidFill>
              </a:rPr>
              <a:t>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180986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5838DE-B1A1-61AE-9866-764D3803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73" y="177284"/>
            <a:ext cx="8292353" cy="831663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1 – CNN Regression: Training and test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resluts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5BADCAA-418D-7554-9AB6-27F8A5049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364" y="731476"/>
            <a:ext cx="7102765" cy="40690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EED7CAA5-4CC8-F762-F74F-FE3FAD149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468" y="4800552"/>
            <a:ext cx="5366850" cy="19869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2946F26-8F26-0A75-7AD0-2863153F949B}"/>
              </a:ext>
            </a:extLst>
          </p:cNvPr>
          <p:cNvSpPr txBox="1"/>
          <p:nvPr/>
        </p:nvSpPr>
        <p:spPr>
          <a:xfrm>
            <a:off x="254473" y="5077275"/>
            <a:ext cx="512781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loss drops sharply from ~47 to ~3 over 100 epochs, showing the model successfully learns the stress-thickness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loss is noisy and unstable, spiking repeatedly between 5–20 throughout training because there is no learning rate scheduler or early stopping — the fixed learning rate keeps overshooting the optimal weights.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BBA07E1F-F5AB-7688-3A50-1F6FF5ACC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2" y="689550"/>
            <a:ext cx="4650722" cy="440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9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1518C2-B44F-51BF-0154-B533CE3E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35" y="77974"/>
            <a:ext cx="9583271" cy="6030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2 – CNN Classification: Training &amp; Evaluation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59ADDF9-E7E0-B6CC-1947-300DC97F4D0E}"/>
              </a:ext>
            </a:extLst>
          </p:cNvPr>
          <p:cNvSpPr txBox="1"/>
          <p:nvPr/>
        </p:nvSpPr>
        <p:spPr>
          <a:xfrm>
            <a:off x="259975" y="618651"/>
            <a:ext cx="7606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dirty="0"/>
              <a:t>Weighted cross-entropy loss; val</a:t>
            </a:r>
            <a:r>
              <a:rPr lang="en-US" dirty="0"/>
              <a:t>ue </a:t>
            </a:r>
            <a:r>
              <a:rPr lang="en-US" sz="1800" b="0" i="0" dirty="0"/>
              <a:t>accuracy and confusion matrices on test 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7D03407-7739-C3EC-CC7E-4417228E4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1029"/>
            <a:ext cx="6534150" cy="37433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8D606DD-6DE0-F143-DDDD-0D69C80F8D67}"/>
              </a:ext>
            </a:extLst>
          </p:cNvPr>
          <p:cNvSpPr txBox="1"/>
          <p:nvPr/>
        </p:nvSpPr>
        <p:spPr>
          <a:xfrm>
            <a:off x="435910" y="4854354"/>
            <a:ext cx="6098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loss (blue) starts high at ~72 and decreases steadily to ~8 over 100 epochs, showing the model is continuously learning to classify the four stress percentile bins from the volume fraction distribution.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loss (orange) starts low at ~17 but rises and becomes increasingly unstable after epoch 40, spiking as high as ~93 at epoch 97 — this is a clear sign of overfitting where the model memorises training data but fails on unseen data.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CB3F987F-1B0E-9000-EBA6-692DF2A8E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306" y="618651"/>
            <a:ext cx="4684059" cy="3805797"/>
          </a:xfrm>
          <a:prstGeom prst="rect">
            <a:avLst/>
          </a:prstGeom>
        </p:spPr>
      </p:pic>
      <p:sp>
        <p:nvSpPr>
          <p:cNvPr id="22" name="Rectangle 5">
            <a:extLst>
              <a:ext uri="{FF2B5EF4-FFF2-40B4-BE49-F238E27FC236}">
                <a16:creationId xmlns:a16="http://schemas.microsoft.com/office/drawing/2014/main" xmlns="" id="{E26974F5-4F22-A5EC-995D-0F55AFB1BD9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90766" y="4251606"/>
            <a:ext cx="5401234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0–10% is predicted worst (18.5% accuracy) because it has the fewest training samples.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51–100% is predicted best since it contains most of the data, creating model bias toward this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misclassifications occur between adjacent bins because stress values near boundaries are very similar.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 (~57%) is low because percentile bins are artificial divisions with overlapping boundary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72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5DBF10-3410-8F2F-C6FA-26DE2D26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42" y="299511"/>
            <a:ext cx="6665259" cy="683746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 Regression vs Classification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472BCC5-4F46-15BF-32D9-42FE69ED5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782" y="1862977"/>
            <a:ext cx="5602692" cy="39461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53BABA3-54C3-55D0-BB26-647E775B0DB0}"/>
              </a:ext>
            </a:extLst>
          </p:cNvPr>
          <p:cNvSpPr txBox="1"/>
          <p:nvPr/>
        </p:nvSpPr>
        <p:spPr>
          <a:xfrm>
            <a:off x="346542" y="3836053"/>
            <a:ext cx="6098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choose Approach 2 (Classification)?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•When you only need to rank or screen designs (e.g., discard the worst 50 %).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•When labelled data is scarce — classification converges faster.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•When extreme stress values would otherwise distort the MSE loss.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5CA7F2D-C086-ADA7-E1A4-CAFCEB516A38}"/>
              </a:ext>
            </a:extLst>
          </p:cNvPr>
          <p:cNvSpPr txBox="1"/>
          <p:nvPr/>
        </p:nvSpPr>
        <p:spPr>
          <a:xfrm>
            <a:off x="346542" y="1508160"/>
            <a:ext cx="6098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choose Approach 1 (Regression)?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•When you need the exact stress value in Pa (e.g., safety factor calculations).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•When downstream optimisation algorithms need a differentiable output to compute gradients.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•When you have a large labelled dataset (&gt;2000 samples).</a:t>
            </a:r>
          </a:p>
        </p:txBody>
      </p:sp>
    </p:spTree>
    <p:extLst>
      <p:ext uri="{BB962C8B-B14F-4D97-AF65-F5344CB8AC3E}">
        <p14:creationId xmlns:p14="http://schemas.microsoft.com/office/powerpoint/2010/main" val="324427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678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CNN-Based Max Von Mises Stress
Prediction for Cantilever Beam </vt:lpstr>
      <vt:lpstr>Problem Statement &amp; Dataset Predicting structural failure risk from FE simulation data</vt:lpstr>
      <vt:lpstr>Preprocessing &amp; Class Distribution </vt:lpstr>
      <vt:lpstr>Shared CNN Architecture</vt:lpstr>
      <vt:lpstr>Approach 1 – CNN Regression: Training and test resluts </vt:lpstr>
      <vt:lpstr>Approach 2 – CNN Classification: Training &amp; Evaluation</vt:lpstr>
      <vt:lpstr>Comparison: Regression vs Classification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CNN-Based Max Von Mises Stress
Prediction for Cantilever Beam </dc:title>
  <dc:creator>Gaurav Sinha</dc:creator>
  <cp:lastModifiedBy>Microsoft account</cp:lastModifiedBy>
  <cp:revision>3</cp:revision>
  <dcterms:created xsi:type="dcterms:W3CDTF">2026-05-15T23:16:56Z</dcterms:created>
  <dcterms:modified xsi:type="dcterms:W3CDTF">2026-05-16T10:41:27Z</dcterms:modified>
</cp:coreProperties>
</file>